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6" r:id="rId7"/>
    <p:sldId id="260" r:id="rId8"/>
    <p:sldId id="261" r:id="rId9"/>
    <p:sldId id="262" r:id="rId10"/>
    <p:sldId id="263" r:id="rId11"/>
    <p:sldId id="264" r:id="rId12"/>
  </p:sldIdLst>
  <p:sldSz cx="18288000" cy="10287000"/>
  <p:notesSz cx="6858000" cy="9144000"/>
  <p:embeddedFontLst>
    <p:embeddedFont>
      <p:font typeface="Montserrat Medium" panose="020B0604020202020204" charset="0"/>
      <p:regular r:id="rId13"/>
    </p:embeddedFont>
    <p:embeddedFont>
      <p:font typeface="Montserrat Semi-Bold" panose="020B0604020202020204" charset="0"/>
      <p:regular r:id="rId14"/>
    </p:embeddedFont>
    <p:embeddedFont>
      <p:font typeface="Fredoka" panose="020B0604020202020204" charset="0"/>
      <p:regular r:id="rId15"/>
    </p:embeddedFont>
    <p:embeddedFont>
      <p:font typeface="Canva Sans Bold" panose="020B0604020202020204" charset="0"/>
      <p:regular r:id="rId16"/>
    </p:embeddedFont>
    <p:embeddedFont>
      <p:font typeface="Montserrat" panose="020B0604020202020204" charset="0"/>
      <p:regular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516" y="3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2.svg"/><Relationship Id="rId5" Type="http://schemas.openxmlformats.org/officeDocument/2006/relationships/image" Target="../media/image10.svg"/><Relationship Id="rId10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8.svg"/><Relationship Id="rId4" Type="http://schemas.openxmlformats.org/officeDocument/2006/relationships/image" Target="../media/image4.png"/><Relationship Id="rId9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svg"/><Relationship Id="rId7" Type="http://schemas.openxmlformats.org/officeDocument/2006/relationships/image" Target="../media/image16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2.svg"/><Relationship Id="rId5" Type="http://schemas.openxmlformats.org/officeDocument/2006/relationships/image" Target="../media/image10.svg"/><Relationship Id="rId10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svg"/><Relationship Id="rId7" Type="http://schemas.openxmlformats.org/officeDocument/2006/relationships/image" Target="../media/image18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2.svg"/><Relationship Id="rId5" Type="http://schemas.openxmlformats.org/officeDocument/2006/relationships/image" Target="../media/image10.svg"/><Relationship Id="rId10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2.svg"/><Relationship Id="rId3" Type="http://schemas.openxmlformats.org/officeDocument/2006/relationships/image" Target="../media/image10.svg"/><Relationship Id="rId7" Type="http://schemas.openxmlformats.org/officeDocument/2006/relationships/image" Target="../media/image20.svg"/><Relationship Id="rId12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6.svg"/><Relationship Id="rId5" Type="http://schemas.openxmlformats.org/officeDocument/2006/relationships/image" Target="../media/image8.svg"/><Relationship Id="rId10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22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0.svg"/><Relationship Id="rId7" Type="http://schemas.openxmlformats.org/officeDocument/2006/relationships/image" Target="../media/image24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2.svg"/><Relationship Id="rId5" Type="http://schemas.openxmlformats.org/officeDocument/2006/relationships/image" Target="../media/image8.svg"/><Relationship Id="rId10" Type="http://schemas.openxmlformats.org/officeDocument/2006/relationships/image" Target="../media/image1.png"/><Relationship Id="rId4" Type="http://schemas.openxmlformats.org/officeDocument/2006/relationships/image" Target="../media/image4.png"/><Relationship Id="rId9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svg"/><Relationship Id="rId7" Type="http://schemas.openxmlformats.org/officeDocument/2006/relationships/image" Target="../media/image26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.svg"/><Relationship Id="rId5" Type="http://schemas.openxmlformats.org/officeDocument/2006/relationships/image" Target="../media/image10.svg"/><Relationship Id="rId10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image" Target="../media/image6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svg"/><Relationship Id="rId7" Type="http://schemas.openxmlformats.org/officeDocument/2006/relationships/image" Target="../media/image28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.svg"/><Relationship Id="rId5" Type="http://schemas.openxmlformats.org/officeDocument/2006/relationships/image" Target="../media/image10.svg"/><Relationship Id="rId10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E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19911" y="6213323"/>
            <a:ext cx="3050862" cy="1736218"/>
          </a:xfrm>
          <a:custGeom>
            <a:avLst/>
            <a:gdLst/>
            <a:ahLst/>
            <a:cxnLst/>
            <a:rect l="l" t="t" r="r" b="b"/>
            <a:pathLst>
              <a:path w="3050862" h="1736218">
                <a:moveTo>
                  <a:pt x="0" y="0"/>
                </a:moveTo>
                <a:lnTo>
                  <a:pt x="3050862" y="0"/>
                </a:lnTo>
                <a:lnTo>
                  <a:pt x="3050862" y="1736218"/>
                </a:lnTo>
                <a:lnTo>
                  <a:pt x="0" y="1736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4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1723187"/>
            <a:ext cx="8498111" cy="8980273"/>
          </a:xfrm>
          <a:custGeom>
            <a:avLst/>
            <a:gdLst/>
            <a:ahLst/>
            <a:cxnLst/>
            <a:rect l="l" t="t" r="r" b="b"/>
            <a:pathLst>
              <a:path w="8498111" h="8980273">
                <a:moveTo>
                  <a:pt x="0" y="0"/>
                </a:moveTo>
                <a:lnTo>
                  <a:pt x="8498111" y="0"/>
                </a:lnTo>
                <a:lnTo>
                  <a:pt x="8498111" y="8980273"/>
                </a:lnTo>
                <a:lnTo>
                  <a:pt x="0" y="89802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482246" y="1339742"/>
            <a:ext cx="1777054" cy="1444596"/>
          </a:xfrm>
          <a:custGeom>
            <a:avLst/>
            <a:gdLst/>
            <a:ahLst/>
            <a:cxnLst/>
            <a:rect l="l" t="t" r="r" b="b"/>
            <a:pathLst>
              <a:path w="1777054" h="1444596">
                <a:moveTo>
                  <a:pt x="0" y="0"/>
                </a:moveTo>
                <a:lnTo>
                  <a:pt x="1777054" y="0"/>
                </a:lnTo>
                <a:lnTo>
                  <a:pt x="1777054" y="1444596"/>
                </a:lnTo>
                <a:lnTo>
                  <a:pt x="0" y="14445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8700" y="753393"/>
            <a:ext cx="1704110" cy="969794"/>
          </a:xfrm>
          <a:custGeom>
            <a:avLst/>
            <a:gdLst/>
            <a:ahLst/>
            <a:cxnLst/>
            <a:rect l="l" t="t" r="r" b="b"/>
            <a:pathLst>
              <a:path w="1704110" h="969794">
                <a:moveTo>
                  <a:pt x="0" y="0"/>
                </a:moveTo>
                <a:lnTo>
                  <a:pt x="1704110" y="0"/>
                </a:lnTo>
                <a:lnTo>
                  <a:pt x="1704110" y="969794"/>
                </a:lnTo>
                <a:lnTo>
                  <a:pt x="0" y="969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4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477622" y="2582961"/>
            <a:ext cx="10810378" cy="2630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8"/>
              </a:lnSpc>
            </a:pPr>
            <a:r>
              <a:rPr lang="en-US" sz="372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Project:</a:t>
            </a:r>
          </a:p>
          <a:p>
            <a:pPr algn="ctr">
              <a:lnSpc>
                <a:spcPts val="5218"/>
              </a:lnSpc>
            </a:pPr>
            <a:endParaRPr lang="en-US" sz="3727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5218"/>
              </a:lnSpc>
            </a:pPr>
            <a:r>
              <a:rPr lang="en-US" sz="372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Patient Tracking and Disease Management System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031844" y="5118392"/>
            <a:ext cx="11256156" cy="458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Goal:</a:t>
            </a:r>
          </a:p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To develop a PL/SQL-based system that tracks patients, diseases, and treatments efficiently.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E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268802">
            <a:off x="-4816841" y="-2332895"/>
            <a:ext cx="19179332" cy="16250125"/>
          </a:xfrm>
          <a:custGeom>
            <a:avLst/>
            <a:gdLst/>
            <a:ahLst/>
            <a:cxnLst/>
            <a:rect l="l" t="t" r="r" b="b"/>
            <a:pathLst>
              <a:path w="19179332" h="16250125">
                <a:moveTo>
                  <a:pt x="0" y="0"/>
                </a:moveTo>
                <a:lnTo>
                  <a:pt x="19179332" y="0"/>
                </a:lnTo>
                <a:lnTo>
                  <a:pt x="19179332" y="16250125"/>
                </a:lnTo>
                <a:lnTo>
                  <a:pt x="0" y="162501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9991050">
            <a:off x="-3960104" y="-1243297"/>
            <a:ext cx="16723353" cy="12071220"/>
          </a:xfrm>
          <a:custGeom>
            <a:avLst/>
            <a:gdLst/>
            <a:ahLst/>
            <a:cxnLst/>
            <a:rect l="l" t="t" r="r" b="b"/>
            <a:pathLst>
              <a:path w="16723353" h="12071220">
                <a:moveTo>
                  <a:pt x="0" y="0"/>
                </a:moveTo>
                <a:lnTo>
                  <a:pt x="16723353" y="0"/>
                </a:lnTo>
                <a:lnTo>
                  <a:pt x="16723353" y="12071220"/>
                </a:lnTo>
                <a:lnTo>
                  <a:pt x="0" y="120712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5000"/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879832" y="1686531"/>
            <a:ext cx="6813203" cy="8600469"/>
          </a:xfrm>
          <a:custGeom>
            <a:avLst/>
            <a:gdLst/>
            <a:ahLst/>
            <a:cxnLst/>
            <a:rect l="l" t="t" r="r" b="b"/>
            <a:pathLst>
              <a:path w="6813203" h="8600469">
                <a:moveTo>
                  <a:pt x="0" y="0"/>
                </a:moveTo>
                <a:lnTo>
                  <a:pt x="6813203" y="0"/>
                </a:lnTo>
                <a:lnTo>
                  <a:pt x="6813203" y="8600469"/>
                </a:lnTo>
                <a:lnTo>
                  <a:pt x="0" y="86004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410964" y="2425715"/>
            <a:ext cx="9233074" cy="3580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Critical Challenges Identified: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Fragmented patient records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Poor disease trend monitoring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Lack of real-time analytics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 structured error tracking</a:t>
            </a:r>
          </a:p>
          <a:p>
            <a:pPr algn="just">
              <a:lnSpc>
                <a:spcPts val="4759"/>
              </a:lnSpc>
            </a:pPr>
            <a:endParaRPr lang="en-US" sz="3399" b="1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1558514" y="1471860"/>
            <a:ext cx="1777054" cy="1444596"/>
          </a:xfrm>
          <a:custGeom>
            <a:avLst/>
            <a:gdLst/>
            <a:ahLst/>
            <a:cxnLst/>
            <a:rect l="l" t="t" r="r" b="b"/>
            <a:pathLst>
              <a:path w="1777054" h="1444596">
                <a:moveTo>
                  <a:pt x="0" y="0"/>
                </a:moveTo>
                <a:lnTo>
                  <a:pt x="1777054" y="0"/>
                </a:lnTo>
                <a:lnTo>
                  <a:pt x="1777054" y="1444596"/>
                </a:lnTo>
                <a:lnTo>
                  <a:pt x="0" y="14445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686699" y="74712"/>
            <a:ext cx="2455053" cy="1397148"/>
          </a:xfrm>
          <a:custGeom>
            <a:avLst/>
            <a:gdLst/>
            <a:ahLst/>
            <a:cxnLst/>
            <a:rect l="l" t="t" r="r" b="b"/>
            <a:pathLst>
              <a:path w="2455053" h="1397148">
                <a:moveTo>
                  <a:pt x="0" y="0"/>
                </a:moveTo>
                <a:lnTo>
                  <a:pt x="2455053" y="0"/>
                </a:lnTo>
                <a:lnTo>
                  <a:pt x="2455053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4000"/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167162" y="9772650"/>
            <a:ext cx="1807620" cy="1028700"/>
          </a:xfrm>
          <a:custGeom>
            <a:avLst/>
            <a:gdLst/>
            <a:ahLst/>
            <a:cxnLst/>
            <a:rect l="l" t="t" r="r" b="b"/>
            <a:pathLst>
              <a:path w="1807620" h="1028700">
                <a:moveTo>
                  <a:pt x="0" y="0"/>
                </a:moveTo>
                <a:lnTo>
                  <a:pt x="1807620" y="0"/>
                </a:lnTo>
                <a:lnTo>
                  <a:pt x="180762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4000"/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6149355"/>
            <a:ext cx="9233074" cy="298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Why This Phase Was Important:</a:t>
            </a:r>
          </a:p>
          <a:p>
            <a:pPr algn="just">
              <a:lnSpc>
                <a:spcPts val="4759"/>
              </a:lnSpc>
            </a:pPr>
            <a:endParaRPr lang="en-US" sz="3399" b="1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just">
              <a:lnSpc>
                <a:spcPts val="4759"/>
              </a:lnSpc>
            </a:pPr>
            <a:r>
              <a:rPr lang="en-US" sz="3399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This phase defined the real-world healthcare gap that the system was designed to solve.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10964" y="1367086"/>
            <a:ext cx="7885436" cy="974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5400" dirty="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 Problem </a:t>
            </a:r>
            <a:r>
              <a:rPr lang="en-US" sz="5400" dirty="0" smtClean="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 Identification</a:t>
            </a:r>
            <a:endParaRPr lang="en-US" sz="5400" dirty="0">
              <a:solidFill>
                <a:srgbClr val="FFFFFF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E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737974">
            <a:off x="4078647" y="-1036010"/>
            <a:ext cx="16723353" cy="12071220"/>
          </a:xfrm>
          <a:custGeom>
            <a:avLst/>
            <a:gdLst/>
            <a:ahLst/>
            <a:cxnLst/>
            <a:rect l="l" t="t" r="r" b="b"/>
            <a:pathLst>
              <a:path w="16723353" h="12071220">
                <a:moveTo>
                  <a:pt x="0" y="0"/>
                </a:moveTo>
                <a:lnTo>
                  <a:pt x="16723353" y="0"/>
                </a:lnTo>
                <a:lnTo>
                  <a:pt x="16723353" y="12071220"/>
                </a:lnTo>
                <a:lnTo>
                  <a:pt x="0" y="120712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56795" y="-2160300"/>
            <a:ext cx="17240730" cy="14607600"/>
          </a:xfrm>
          <a:custGeom>
            <a:avLst/>
            <a:gdLst/>
            <a:ahLst/>
            <a:cxnLst/>
            <a:rect l="l" t="t" r="r" b="b"/>
            <a:pathLst>
              <a:path w="17240730" h="14607600">
                <a:moveTo>
                  <a:pt x="0" y="0"/>
                </a:moveTo>
                <a:lnTo>
                  <a:pt x="17240730" y="0"/>
                </a:lnTo>
                <a:lnTo>
                  <a:pt x="17240730" y="14607600"/>
                </a:lnTo>
                <a:lnTo>
                  <a:pt x="0" y="14607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1694473"/>
            <a:ext cx="8827455" cy="7737525"/>
          </a:xfrm>
          <a:custGeom>
            <a:avLst/>
            <a:gdLst/>
            <a:ahLst/>
            <a:cxnLst/>
            <a:rect l="l" t="t" r="r" b="b"/>
            <a:pathLst>
              <a:path w="8827455" h="7737525">
                <a:moveTo>
                  <a:pt x="0" y="0"/>
                </a:moveTo>
                <a:lnTo>
                  <a:pt x="8827455" y="0"/>
                </a:lnTo>
                <a:lnTo>
                  <a:pt x="8827455" y="7737525"/>
                </a:lnTo>
                <a:lnTo>
                  <a:pt x="0" y="77375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144000" y="1476375"/>
            <a:ext cx="7156108" cy="677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573"/>
              </a:lnSpc>
            </a:pPr>
            <a:r>
              <a:rPr lang="en-US" sz="3981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What Was Analyzed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281761" y="5631187"/>
            <a:ext cx="4772221" cy="644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270"/>
              </a:lnSpc>
            </a:pPr>
            <a:r>
              <a:rPr lang="en-US" sz="3764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Key Outcome:</a:t>
            </a:r>
          </a:p>
        </p:txBody>
      </p:sp>
      <p:sp>
        <p:nvSpPr>
          <p:cNvPr id="7" name="Freeform 7"/>
          <p:cNvSpPr/>
          <p:nvPr/>
        </p:nvSpPr>
        <p:spPr>
          <a:xfrm>
            <a:off x="-813866" y="297325"/>
            <a:ext cx="2455053" cy="1397148"/>
          </a:xfrm>
          <a:custGeom>
            <a:avLst/>
            <a:gdLst/>
            <a:ahLst/>
            <a:cxnLst/>
            <a:rect l="l" t="t" r="r" b="b"/>
            <a:pathLst>
              <a:path w="2455053" h="1397148">
                <a:moveTo>
                  <a:pt x="0" y="0"/>
                </a:moveTo>
                <a:lnTo>
                  <a:pt x="2455052" y="0"/>
                </a:lnTo>
                <a:lnTo>
                  <a:pt x="2455052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4000"/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259300" y="8987961"/>
            <a:ext cx="1560511" cy="888072"/>
          </a:xfrm>
          <a:custGeom>
            <a:avLst/>
            <a:gdLst/>
            <a:ahLst/>
            <a:cxnLst/>
            <a:rect l="l" t="t" r="r" b="b"/>
            <a:pathLst>
              <a:path w="1560511" h="888072">
                <a:moveTo>
                  <a:pt x="0" y="0"/>
                </a:moveTo>
                <a:lnTo>
                  <a:pt x="1560511" y="0"/>
                </a:lnTo>
                <a:lnTo>
                  <a:pt x="1560511" y="888073"/>
                </a:lnTo>
                <a:lnTo>
                  <a:pt x="0" y="8880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4000"/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076444" y="2621922"/>
            <a:ext cx="7182856" cy="298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Hospital data workflow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spread of diseases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Treatment documentation process</a:t>
            </a:r>
          </a:p>
          <a:p>
            <a:pPr algn="just">
              <a:lnSpc>
                <a:spcPts val="4759"/>
              </a:lnSpc>
            </a:pPr>
            <a:endParaRPr lang="en-US" sz="3399" b="1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076444" y="6464471"/>
            <a:ext cx="7182856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structured understanding of how patient data moves across hospital departments.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971116" y="-118744"/>
            <a:ext cx="13631084" cy="16542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72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Logical System </a:t>
            </a:r>
            <a:r>
              <a:rPr lang="en-US" sz="7200" b="1" dirty="0" smtClean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Analysis</a:t>
            </a:r>
            <a:endParaRPr lang="en-US" sz="72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485900"/>
            <a:ext cx="16928311" cy="8431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731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E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272750" y="-1185886"/>
            <a:ext cx="17240730" cy="14607600"/>
          </a:xfrm>
          <a:custGeom>
            <a:avLst/>
            <a:gdLst/>
            <a:ahLst/>
            <a:cxnLst/>
            <a:rect l="l" t="t" r="r" b="b"/>
            <a:pathLst>
              <a:path w="17240730" h="14607600">
                <a:moveTo>
                  <a:pt x="0" y="0"/>
                </a:moveTo>
                <a:lnTo>
                  <a:pt x="17240730" y="0"/>
                </a:lnTo>
                <a:lnTo>
                  <a:pt x="17240730" y="14607600"/>
                </a:lnTo>
                <a:lnTo>
                  <a:pt x="0" y="14607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0022137">
            <a:off x="-144077" y="-839618"/>
            <a:ext cx="16577910" cy="11966237"/>
          </a:xfrm>
          <a:custGeom>
            <a:avLst/>
            <a:gdLst/>
            <a:ahLst/>
            <a:cxnLst/>
            <a:rect l="l" t="t" r="r" b="b"/>
            <a:pathLst>
              <a:path w="16577910" h="11966237">
                <a:moveTo>
                  <a:pt x="0" y="0"/>
                </a:moveTo>
                <a:lnTo>
                  <a:pt x="16577910" y="0"/>
                </a:lnTo>
                <a:lnTo>
                  <a:pt x="16577910" y="11966236"/>
                </a:lnTo>
                <a:lnTo>
                  <a:pt x="0" y="119662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5000"/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275073" y="2808768"/>
            <a:ext cx="8066398" cy="8155366"/>
          </a:xfrm>
          <a:custGeom>
            <a:avLst/>
            <a:gdLst/>
            <a:ahLst/>
            <a:cxnLst/>
            <a:rect l="l" t="t" r="r" b="b"/>
            <a:pathLst>
              <a:path w="8066398" h="8155366">
                <a:moveTo>
                  <a:pt x="0" y="0"/>
                </a:moveTo>
                <a:lnTo>
                  <a:pt x="8066398" y="0"/>
                </a:lnTo>
                <a:lnTo>
                  <a:pt x="8066398" y="8155366"/>
                </a:lnTo>
                <a:lnTo>
                  <a:pt x="0" y="81553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641584" y="1489407"/>
            <a:ext cx="1777054" cy="1444596"/>
          </a:xfrm>
          <a:custGeom>
            <a:avLst/>
            <a:gdLst/>
            <a:ahLst/>
            <a:cxnLst/>
            <a:rect l="l" t="t" r="r" b="b"/>
            <a:pathLst>
              <a:path w="1777054" h="1444596">
                <a:moveTo>
                  <a:pt x="0" y="0"/>
                </a:moveTo>
                <a:lnTo>
                  <a:pt x="1777054" y="0"/>
                </a:lnTo>
                <a:lnTo>
                  <a:pt x="1777054" y="1444596"/>
                </a:lnTo>
                <a:lnTo>
                  <a:pt x="0" y="14445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227526" y="1028700"/>
            <a:ext cx="2455053" cy="1397148"/>
          </a:xfrm>
          <a:custGeom>
            <a:avLst/>
            <a:gdLst/>
            <a:ahLst/>
            <a:cxnLst/>
            <a:rect l="l" t="t" r="r" b="b"/>
            <a:pathLst>
              <a:path w="2455053" h="1397148">
                <a:moveTo>
                  <a:pt x="0" y="0"/>
                </a:moveTo>
                <a:lnTo>
                  <a:pt x="2455052" y="0"/>
                </a:lnTo>
                <a:lnTo>
                  <a:pt x="2455052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4000"/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881467" y="593515"/>
            <a:ext cx="1574250" cy="895891"/>
          </a:xfrm>
          <a:custGeom>
            <a:avLst/>
            <a:gdLst/>
            <a:ahLst/>
            <a:cxnLst/>
            <a:rect l="l" t="t" r="r" b="b"/>
            <a:pathLst>
              <a:path w="1574250" h="895891">
                <a:moveTo>
                  <a:pt x="0" y="0"/>
                </a:moveTo>
                <a:lnTo>
                  <a:pt x="1574250" y="0"/>
                </a:lnTo>
                <a:lnTo>
                  <a:pt x="1574250" y="895892"/>
                </a:lnTo>
                <a:lnTo>
                  <a:pt x="0" y="8958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4000"/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050846" y="529016"/>
            <a:ext cx="9392841" cy="974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5400" dirty="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  <a:r>
              <a:rPr lang="en-US" sz="5400" dirty="0" smtClean="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SystemEngineering</a:t>
            </a:r>
            <a:endParaRPr lang="en-US" sz="5400" dirty="0">
              <a:solidFill>
                <a:srgbClr val="FFFFFF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206533" y="2145030"/>
            <a:ext cx="13081467" cy="6446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64"/>
              </a:lnSpc>
            </a:pPr>
            <a:r>
              <a:rPr lang="en-US" sz="3331" dirty="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Advanced Implementations:</a:t>
            </a:r>
          </a:p>
          <a:p>
            <a:pPr marL="719301" lvl="1" indent="-359650" algn="ctr">
              <a:lnSpc>
                <a:spcPts val="4664"/>
              </a:lnSpc>
              <a:buFont typeface="Arial"/>
              <a:buChar char="•"/>
            </a:pPr>
            <a:r>
              <a:rPr lang="en-US" sz="3331" dirty="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Custom exception architecture</a:t>
            </a:r>
          </a:p>
          <a:p>
            <a:pPr marL="719301" lvl="1" indent="-359650" algn="ctr">
              <a:lnSpc>
                <a:spcPts val="4664"/>
              </a:lnSpc>
              <a:buFont typeface="Arial"/>
              <a:buChar char="•"/>
            </a:pPr>
            <a:r>
              <a:rPr lang="en-US" sz="3331" dirty="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Package-based encapsulation</a:t>
            </a:r>
          </a:p>
          <a:p>
            <a:pPr marL="719301" lvl="1" indent="-359650" algn="ctr">
              <a:lnSpc>
                <a:spcPts val="4664"/>
              </a:lnSpc>
              <a:buFont typeface="Arial"/>
              <a:buChar char="•"/>
            </a:pPr>
            <a:r>
              <a:rPr lang="en-US" sz="3331" dirty="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Cursor-based data processing</a:t>
            </a:r>
          </a:p>
          <a:p>
            <a:pPr marL="719301" lvl="1" indent="-359650" algn="ctr">
              <a:lnSpc>
                <a:spcPts val="4664"/>
              </a:lnSpc>
              <a:buFont typeface="Arial"/>
              <a:buChar char="•"/>
            </a:pPr>
            <a:r>
              <a:rPr lang="en-US" sz="3331" dirty="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Robust error logging mechanisms</a:t>
            </a:r>
          </a:p>
          <a:p>
            <a:pPr marL="719301" lvl="1" indent="-359650" algn="ctr">
              <a:lnSpc>
                <a:spcPts val="4664"/>
              </a:lnSpc>
              <a:buFont typeface="Arial"/>
              <a:buChar char="•"/>
            </a:pPr>
            <a:endParaRPr lang="en-US" sz="3331" dirty="0">
              <a:solidFill>
                <a:srgbClr val="FFFFFF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algn="ctr">
              <a:lnSpc>
                <a:spcPts val="4664"/>
              </a:lnSpc>
            </a:pPr>
            <a:r>
              <a:rPr lang="en-US" sz="3331" dirty="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Why This Is Serious:</a:t>
            </a:r>
          </a:p>
          <a:p>
            <a:pPr algn="ctr">
              <a:lnSpc>
                <a:spcPts val="4664"/>
              </a:lnSpc>
            </a:pPr>
            <a:endParaRPr lang="en-US" sz="3331" dirty="0">
              <a:solidFill>
                <a:srgbClr val="FFFFFF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algn="ctr">
              <a:lnSpc>
                <a:spcPts val="4664"/>
              </a:lnSpc>
            </a:pPr>
            <a:r>
              <a:rPr lang="en-US" sz="3331" dirty="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 This phase demonstrates backend-level engineering, not just basic SQL queries.</a:t>
            </a:r>
          </a:p>
          <a:p>
            <a:pPr algn="ctr">
              <a:lnSpc>
                <a:spcPts val="4664"/>
              </a:lnSpc>
              <a:spcBef>
                <a:spcPct val="0"/>
              </a:spcBef>
            </a:pPr>
            <a:endParaRPr lang="en-US" sz="3331" dirty="0">
              <a:solidFill>
                <a:srgbClr val="FFFFFF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8600" y="0"/>
            <a:ext cx="17983200" cy="986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662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E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987743">
            <a:off x="-5148051" y="-2289602"/>
            <a:ext cx="19179332" cy="16250125"/>
          </a:xfrm>
          <a:custGeom>
            <a:avLst/>
            <a:gdLst/>
            <a:ahLst/>
            <a:cxnLst/>
            <a:rect l="l" t="t" r="r" b="b"/>
            <a:pathLst>
              <a:path w="19179332" h="16250125">
                <a:moveTo>
                  <a:pt x="0" y="0"/>
                </a:moveTo>
                <a:lnTo>
                  <a:pt x="19179331" y="0"/>
                </a:lnTo>
                <a:lnTo>
                  <a:pt x="19179331" y="16250124"/>
                </a:lnTo>
                <a:lnTo>
                  <a:pt x="0" y="162501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78541">
            <a:off x="684915" y="-158386"/>
            <a:ext cx="17201471" cy="12416335"/>
          </a:xfrm>
          <a:custGeom>
            <a:avLst/>
            <a:gdLst/>
            <a:ahLst/>
            <a:cxnLst/>
            <a:rect l="l" t="t" r="r" b="b"/>
            <a:pathLst>
              <a:path w="17201471" h="12416335">
                <a:moveTo>
                  <a:pt x="0" y="0"/>
                </a:moveTo>
                <a:lnTo>
                  <a:pt x="17201471" y="0"/>
                </a:lnTo>
                <a:lnTo>
                  <a:pt x="17201471" y="12416335"/>
                </a:lnTo>
                <a:lnTo>
                  <a:pt x="0" y="12416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5000"/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19225" y="1446942"/>
            <a:ext cx="6167107" cy="547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317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: Controlled Testing Strategy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19225" y="3125396"/>
            <a:ext cx="5791998" cy="722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908"/>
              </a:lnSpc>
            </a:pPr>
            <a:r>
              <a:rPr lang="en-US" sz="422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Testing Approach: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19225" y="3959786"/>
            <a:ext cx="10689786" cy="2380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Structured unit tests per procedure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Boundary condition testing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Exception scenario simulation</a:t>
            </a:r>
          </a:p>
          <a:p>
            <a:pPr algn="just">
              <a:lnSpc>
                <a:spcPts val="4759"/>
              </a:lnSpc>
            </a:pPr>
            <a:endParaRPr lang="en-US" sz="3399" b="1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419225" y="6215602"/>
            <a:ext cx="8881522" cy="9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559"/>
              </a:lnSpc>
            </a:pPr>
            <a:r>
              <a:rPr lang="en-US" sz="54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Measured Outputs: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19225" y="7450042"/>
            <a:ext cx="10689786" cy="2380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System stability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Error resilience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Data integrity</a:t>
            </a:r>
          </a:p>
          <a:p>
            <a:pPr algn="just">
              <a:lnSpc>
                <a:spcPts val="4759"/>
              </a:lnSpc>
            </a:pPr>
            <a:endParaRPr lang="en-US" sz="3399" b="1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2542507" y="1148845"/>
            <a:ext cx="5382069" cy="11973745"/>
          </a:xfrm>
          <a:custGeom>
            <a:avLst/>
            <a:gdLst/>
            <a:ahLst/>
            <a:cxnLst/>
            <a:rect l="l" t="t" r="r" b="b"/>
            <a:pathLst>
              <a:path w="5382069" h="11973745">
                <a:moveTo>
                  <a:pt x="0" y="0"/>
                </a:moveTo>
                <a:lnTo>
                  <a:pt x="5382069" y="0"/>
                </a:lnTo>
                <a:lnTo>
                  <a:pt x="5382069" y="11973745"/>
                </a:lnTo>
                <a:lnTo>
                  <a:pt x="0" y="119737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177007" y="1382822"/>
            <a:ext cx="1777054" cy="1444596"/>
          </a:xfrm>
          <a:custGeom>
            <a:avLst/>
            <a:gdLst/>
            <a:ahLst/>
            <a:cxnLst/>
            <a:rect l="l" t="t" r="r" b="b"/>
            <a:pathLst>
              <a:path w="1777054" h="1444596">
                <a:moveTo>
                  <a:pt x="0" y="0"/>
                </a:moveTo>
                <a:lnTo>
                  <a:pt x="1777053" y="0"/>
                </a:lnTo>
                <a:lnTo>
                  <a:pt x="1777053" y="1444596"/>
                </a:lnTo>
                <a:lnTo>
                  <a:pt x="0" y="14445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697050" y="1299474"/>
            <a:ext cx="2455053" cy="1397148"/>
          </a:xfrm>
          <a:custGeom>
            <a:avLst/>
            <a:gdLst/>
            <a:ahLst/>
            <a:cxnLst/>
            <a:rect l="l" t="t" r="r" b="b"/>
            <a:pathLst>
              <a:path w="2455053" h="1397148">
                <a:moveTo>
                  <a:pt x="0" y="0"/>
                </a:moveTo>
                <a:lnTo>
                  <a:pt x="2455052" y="0"/>
                </a:lnTo>
                <a:lnTo>
                  <a:pt x="2455052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4000"/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545550" y="580754"/>
            <a:ext cx="1574250" cy="895891"/>
          </a:xfrm>
          <a:custGeom>
            <a:avLst/>
            <a:gdLst/>
            <a:ahLst/>
            <a:cxnLst/>
            <a:rect l="l" t="t" r="r" b="b"/>
            <a:pathLst>
              <a:path w="1574250" h="895891">
                <a:moveTo>
                  <a:pt x="0" y="0"/>
                </a:moveTo>
                <a:lnTo>
                  <a:pt x="1574250" y="0"/>
                </a:lnTo>
                <a:lnTo>
                  <a:pt x="1574250" y="895892"/>
                </a:lnTo>
                <a:lnTo>
                  <a:pt x="0" y="8958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4000"/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E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78541">
            <a:off x="-2423596" y="583792"/>
            <a:ext cx="17201471" cy="12416335"/>
          </a:xfrm>
          <a:custGeom>
            <a:avLst/>
            <a:gdLst/>
            <a:ahLst/>
            <a:cxnLst/>
            <a:rect l="l" t="t" r="r" b="b"/>
            <a:pathLst>
              <a:path w="17201471" h="12416335">
                <a:moveTo>
                  <a:pt x="0" y="0"/>
                </a:moveTo>
                <a:lnTo>
                  <a:pt x="17201472" y="0"/>
                </a:lnTo>
                <a:lnTo>
                  <a:pt x="17201472" y="12416335"/>
                </a:lnTo>
                <a:lnTo>
                  <a:pt x="0" y="124163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9987743">
            <a:off x="1302956" y="-484288"/>
            <a:ext cx="15279551" cy="12945947"/>
          </a:xfrm>
          <a:custGeom>
            <a:avLst/>
            <a:gdLst/>
            <a:ahLst/>
            <a:cxnLst/>
            <a:rect l="l" t="t" r="r" b="b"/>
            <a:pathLst>
              <a:path w="15279551" h="12945947">
                <a:moveTo>
                  <a:pt x="0" y="0"/>
                </a:moveTo>
                <a:lnTo>
                  <a:pt x="15279551" y="0"/>
                </a:lnTo>
                <a:lnTo>
                  <a:pt x="15279551" y="12945947"/>
                </a:lnTo>
                <a:lnTo>
                  <a:pt x="0" y="129459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093174" y="3636645"/>
            <a:ext cx="8101652" cy="7146971"/>
          </a:xfrm>
          <a:custGeom>
            <a:avLst/>
            <a:gdLst/>
            <a:ahLst/>
            <a:cxnLst/>
            <a:rect l="l" t="t" r="r" b="b"/>
            <a:pathLst>
              <a:path w="8101652" h="7146971">
                <a:moveTo>
                  <a:pt x="0" y="0"/>
                </a:moveTo>
                <a:lnTo>
                  <a:pt x="8101652" y="0"/>
                </a:lnTo>
                <a:lnTo>
                  <a:pt x="8101652" y="7146971"/>
                </a:lnTo>
                <a:lnTo>
                  <a:pt x="0" y="71469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170746">
            <a:off x="5453401" y="2567967"/>
            <a:ext cx="1721618" cy="486357"/>
          </a:xfrm>
          <a:custGeom>
            <a:avLst/>
            <a:gdLst/>
            <a:ahLst/>
            <a:cxnLst/>
            <a:rect l="l" t="t" r="r" b="b"/>
            <a:pathLst>
              <a:path w="1721618" h="486357">
                <a:moveTo>
                  <a:pt x="0" y="0"/>
                </a:moveTo>
                <a:lnTo>
                  <a:pt x="1721618" y="0"/>
                </a:lnTo>
                <a:lnTo>
                  <a:pt x="1721618" y="486357"/>
                </a:lnTo>
                <a:lnTo>
                  <a:pt x="0" y="4863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400821" y="533400"/>
            <a:ext cx="9324411" cy="913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66"/>
              </a:lnSpc>
            </a:pPr>
            <a:r>
              <a:rPr lang="en-US" sz="5333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Intelligent Data Analytics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906395"/>
            <a:ext cx="7022068" cy="2419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5142" lvl="1" indent="-297571" algn="l">
              <a:lnSpc>
                <a:spcPts val="3859"/>
              </a:lnSpc>
              <a:buFont typeface="Arial"/>
              <a:buChar char="•"/>
            </a:pPr>
            <a:r>
              <a:rPr lang="en-US" sz="2756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Disease frequency ranking</a:t>
            </a:r>
          </a:p>
          <a:p>
            <a:pPr marL="595142" lvl="1" indent="-297571" algn="l">
              <a:lnSpc>
                <a:spcPts val="3859"/>
              </a:lnSpc>
              <a:buFont typeface="Arial"/>
              <a:buChar char="•"/>
            </a:pPr>
            <a:r>
              <a:rPr lang="en-US" sz="2756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Patient visit trend analysis</a:t>
            </a:r>
          </a:p>
          <a:p>
            <a:pPr marL="595142" lvl="1" indent="-297571" algn="l">
              <a:lnSpc>
                <a:spcPts val="3859"/>
              </a:lnSpc>
              <a:buFont typeface="Arial"/>
              <a:buChar char="•"/>
            </a:pPr>
            <a:r>
              <a:rPr lang="en-US" sz="2756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Temporal health pattern identification</a:t>
            </a:r>
          </a:p>
          <a:p>
            <a:pPr algn="l">
              <a:lnSpc>
                <a:spcPts val="3859"/>
              </a:lnSpc>
            </a:pPr>
            <a:endParaRPr lang="en-US" sz="2756" b="1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38008" y="5711206"/>
            <a:ext cx="5285510" cy="774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385"/>
              </a:lnSpc>
            </a:pPr>
            <a:r>
              <a:rPr lang="en-US" sz="456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Technology Used: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8832" y="7553251"/>
            <a:ext cx="3711989" cy="1705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9"/>
              </a:lnSpc>
            </a:pPr>
            <a:r>
              <a:rPr lang="en-US" sz="243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SQL Window Functions (ROW_NUMBER, RANK, DENSE_RANK, LAG, LEAD)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810690" y="1878964"/>
            <a:ext cx="6448550" cy="9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559"/>
              </a:lnSpc>
            </a:pPr>
            <a:r>
              <a:rPr lang="en-US" sz="54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Value Created: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556776" y="2884804"/>
            <a:ext cx="3702464" cy="2380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759"/>
              </a:lnSpc>
            </a:pPr>
            <a:r>
              <a:rPr lang="en-US" sz="3399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Enables predictive-style healthcare insights.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194826" y="5871845"/>
            <a:ext cx="5093174" cy="1872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559"/>
              </a:lnSpc>
            </a:pPr>
            <a:r>
              <a:rPr lang="en-US" sz="54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Reliability Mechanisms:</a:t>
            </a:r>
          </a:p>
        </p:txBody>
      </p:sp>
      <p:sp>
        <p:nvSpPr>
          <p:cNvPr id="13" name="Freeform 13"/>
          <p:cNvSpPr/>
          <p:nvPr/>
        </p:nvSpPr>
        <p:spPr>
          <a:xfrm rot="10559576" flipH="1">
            <a:off x="11318416" y="2596542"/>
            <a:ext cx="1721618" cy="486357"/>
          </a:xfrm>
          <a:custGeom>
            <a:avLst/>
            <a:gdLst/>
            <a:ahLst/>
            <a:cxnLst/>
            <a:rect l="l" t="t" r="r" b="b"/>
            <a:pathLst>
              <a:path w="1721618" h="486357">
                <a:moveTo>
                  <a:pt x="1721618" y="0"/>
                </a:moveTo>
                <a:lnTo>
                  <a:pt x="0" y="0"/>
                </a:lnTo>
                <a:lnTo>
                  <a:pt x="0" y="486357"/>
                </a:lnTo>
                <a:lnTo>
                  <a:pt x="1721618" y="486357"/>
                </a:lnTo>
                <a:lnTo>
                  <a:pt x="1721618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2003614" y="7627038"/>
            <a:ext cx="1721618" cy="486357"/>
          </a:xfrm>
          <a:custGeom>
            <a:avLst/>
            <a:gdLst/>
            <a:ahLst/>
            <a:cxnLst/>
            <a:rect l="l" t="t" r="r" b="b"/>
            <a:pathLst>
              <a:path w="1721618" h="486357">
                <a:moveTo>
                  <a:pt x="0" y="0"/>
                </a:moveTo>
                <a:lnTo>
                  <a:pt x="1721618" y="0"/>
                </a:lnTo>
                <a:lnTo>
                  <a:pt x="1721618" y="486357"/>
                </a:lnTo>
                <a:lnTo>
                  <a:pt x="0" y="4863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10226635" flipV="1">
            <a:off x="4769115" y="7839101"/>
            <a:ext cx="1721618" cy="486357"/>
          </a:xfrm>
          <a:custGeom>
            <a:avLst/>
            <a:gdLst/>
            <a:ahLst/>
            <a:cxnLst/>
            <a:rect l="l" t="t" r="r" b="b"/>
            <a:pathLst>
              <a:path w="1721618" h="486357">
                <a:moveTo>
                  <a:pt x="0" y="486357"/>
                </a:moveTo>
                <a:lnTo>
                  <a:pt x="1721618" y="486357"/>
                </a:lnTo>
                <a:lnTo>
                  <a:pt x="1721618" y="0"/>
                </a:lnTo>
                <a:lnTo>
                  <a:pt x="0" y="0"/>
                </a:lnTo>
                <a:lnTo>
                  <a:pt x="0" y="486357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8555593" y="2071105"/>
            <a:ext cx="1397243" cy="1135842"/>
          </a:xfrm>
          <a:custGeom>
            <a:avLst/>
            <a:gdLst/>
            <a:ahLst/>
            <a:cxnLst/>
            <a:rect l="l" t="t" r="r" b="b"/>
            <a:pathLst>
              <a:path w="1397243" h="1135842">
                <a:moveTo>
                  <a:pt x="0" y="0"/>
                </a:moveTo>
                <a:lnTo>
                  <a:pt x="1397243" y="0"/>
                </a:lnTo>
                <a:lnTo>
                  <a:pt x="1397243" y="1135842"/>
                </a:lnTo>
                <a:lnTo>
                  <a:pt x="0" y="11358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5408008" y="-368448"/>
            <a:ext cx="2455053" cy="1397148"/>
          </a:xfrm>
          <a:custGeom>
            <a:avLst/>
            <a:gdLst/>
            <a:ahLst/>
            <a:cxnLst/>
            <a:rect l="l" t="t" r="r" b="b"/>
            <a:pathLst>
              <a:path w="2455053" h="1397148">
                <a:moveTo>
                  <a:pt x="0" y="0"/>
                </a:moveTo>
                <a:lnTo>
                  <a:pt x="2455053" y="0"/>
                </a:lnTo>
                <a:lnTo>
                  <a:pt x="2455053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4000"/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-787125" y="190229"/>
            <a:ext cx="1574250" cy="895891"/>
          </a:xfrm>
          <a:custGeom>
            <a:avLst/>
            <a:gdLst/>
            <a:ahLst/>
            <a:cxnLst/>
            <a:rect l="l" t="t" r="r" b="b"/>
            <a:pathLst>
              <a:path w="1574250" h="895891">
                <a:moveTo>
                  <a:pt x="0" y="0"/>
                </a:moveTo>
                <a:lnTo>
                  <a:pt x="1574250" y="0"/>
                </a:lnTo>
                <a:lnTo>
                  <a:pt x="1574250" y="895892"/>
                </a:lnTo>
                <a:lnTo>
                  <a:pt x="0" y="89589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4000"/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E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475567">
            <a:off x="-676855" y="206920"/>
            <a:ext cx="17201471" cy="12416335"/>
          </a:xfrm>
          <a:custGeom>
            <a:avLst/>
            <a:gdLst/>
            <a:ahLst/>
            <a:cxnLst/>
            <a:rect l="l" t="t" r="r" b="b"/>
            <a:pathLst>
              <a:path w="17201471" h="12416335">
                <a:moveTo>
                  <a:pt x="0" y="0"/>
                </a:moveTo>
                <a:lnTo>
                  <a:pt x="17201471" y="0"/>
                </a:lnTo>
                <a:lnTo>
                  <a:pt x="17201471" y="12416334"/>
                </a:lnTo>
                <a:lnTo>
                  <a:pt x="0" y="124163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9987743">
            <a:off x="1348100" y="-996212"/>
            <a:ext cx="15808940" cy="13394484"/>
          </a:xfrm>
          <a:custGeom>
            <a:avLst/>
            <a:gdLst/>
            <a:ahLst/>
            <a:cxnLst/>
            <a:rect l="l" t="t" r="r" b="b"/>
            <a:pathLst>
              <a:path w="15808940" h="13394484">
                <a:moveTo>
                  <a:pt x="0" y="0"/>
                </a:moveTo>
                <a:lnTo>
                  <a:pt x="15808940" y="0"/>
                </a:lnTo>
                <a:lnTo>
                  <a:pt x="15808940" y="13394484"/>
                </a:lnTo>
                <a:lnTo>
                  <a:pt x="0" y="133944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761070" y="778517"/>
            <a:ext cx="5864488" cy="12377407"/>
          </a:xfrm>
          <a:custGeom>
            <a:avLst/>
            <a:gdLst/>
            <a:ahLst/>
            <a:cxnLst/>
            <a:rect l="l" t="t" r="r" b="b"/>
            <a:pathLst>
              <a:path w="5864488" h="12377407">
                <a:moveTo>
                  <a:pt x="0" y="0"/>
                </a:moveTo>
                <a:lnTo>
                  <a:pt x="5864488" y="0"/>
                </a:lnTo>
                <a:lnTo>
                  <a:pt x="5864488" y="12377406"/>
                </a:lnTo>
                <a:lnTo>
                  <a:pt x="0" y="123774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762000"/>
            <a:ext cx="6554507" cy="1526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36"/>
              </a:lnSpc>
            </a:pPr>
            <a:r>
              <a:rPr lang="en-US" sz="4382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Impact and Strategic Contribution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3853659"/>
            <a:ext cx="7071927" cy="1615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540"/>
              </a:lnSpc>
            </a:pPr>
            <a:r>
              <a:rPr lang="en-US" sz="4671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PL/SQLarchitectural design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6047105"/>
            <a:ext cx="10749800" cy="9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559"/>
              </a:lnSpc>
            </a:pPr>
            <a:r>
              <a:rPr lang="en-US" sz="54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Analytical data modeling</a:t>
            </a:r>
          </a:p>
        </p:txBody>
      </p:sp>
      <p:sp>
        <p:nvSpPr>
          <p:cNvPr id="8" name="Freeform 8"/>
          <p:cNvSpPr/>
          <p:nvPr/>
        </p:nvSpPr>
        <p:spPr>
          <a:xfrm>
            <a:off x="15625558" y="778517"/>
            <a:ext cx="1397243" cy="1135842"/>
          </a:xfrm>
          <a:custGeom>
            <a:avLst/>
            <a:gdLst/>
            <a:ahLst/>
            <a:cxnLst/>
            <a:rect l="l" t="t" r="r" b="b"/>
            <a:pathLst>
              <a:path w="1397243" h="1135842">
                <a:moveTo>
                  <a:pt x="0" y="0"/>
                </a:moveTo>
                <a:lnTo>
                  <a:pt x="1397243" y="0"/>
                </a:lnTo>
                <a:lnTo>
                  <a:pt x="1397243" y="1135842"/>
                </a:lnTo>
                <a:lnTo>
                  <a:pt x="0" y="11358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542890" y="2920925"/>
            <a:ext cx="2455053" cy="1397148"/>
          </a:xfrm>
          <a:custGeom>
            <a:avLst/>
            <a:gdLst/>
            <a:ahLst/>
            <a:cxnLst/>
            <a:rect l="l" t="t" r="r" b="b"/>
            <a:pathLst>
              <a:path w="2455053" h="1397148">
                <a:moveTo>
                  <a:pt x="0" y="0"/>
                </a:moveTo>
                <a:lnTo>
                  <a:pt x="2455053" y="0"/>
                </a:lnTo>
                <a:lnTo>
                  <a:pt x="2455053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4000"/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24626" y="9754108"/>
            <a:ext cx="1807620" cy="1028700"/>
          </a:xfrm>
          <a:custGeom>
            <a:avLst/>
            <a:gdLst/>
            <a:ahLst/>
            <a:cxnLst/>
            <a:rect l="l" t="t" r="r" b="b"/>
            <a:pathLst>
              <a:path w="1807620" h="1028700">
                <a:moveTo>
                  <a:pt x="0" y="0"/>
                </a:moveTo>
                <a:lnTo>
                  <a:pt x="1807620" y="0"/>
                </a:lnTo>
                <a:lnTo>
                  <a:pt x="180762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4000"/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28700" y="2546350"/>
            <a:ext cx="7689949" cy="9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54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Database programming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E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272750" y="-1185886"/>
            <a:ext cx="17240730" cy="14607600"/>
          </a:xfrm>
          <a:custGeom>
            <a:avLst/>
            <a:gdLst/>
            <a:ahLst/>
            <a:cxnLst/>
            <a:rect l="l" t="t" r="r" b="b"/>
            <a:pathLst>
              <a:path w="17240730" h="14607600">
                <a:moveTo>
                  <a:pt x="0" y="0"/>
                </a:moveTo>
                <a:lnTo>
                  <a:pt x="17240730" y="0"/>
                </a:lnTo>
                <a:lnTo>
                  <a:pt x="17240730" y="14607600"/>
                </a:lnTo>
                <a:lnTo>
                  <a:pt x="0" y="14607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0022137">
            <a:off x="3114542" y="536167"/>
            <a:ext cx="16723353" cy="12071220"/>
          </a:xfrm>
          <a:custGeom>
            <a:avLst/>
            <a:gdLst/>
            <a:ahLst/>
            <a:cxnLst/>
            <a:rect l="l" t="t" r="r" b="b"/>
            <a:pathLst>
              <a:path w="16723353" h="12071220">
                <a:moveTo>
                  <a:pt x="0" y="0"/>
                </a:moveTo>
                <a:lnTo>
                  <a:pt x="16723353" y="0"/>
                </a:lnTo>
                <a:lnTo>
                  <a:pt x="16723353" y="12071220"/>
                </a:lnTo>
                <a:lnTo>
                  <a:pt x="0" y="120712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5000"/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2146248"/>
            <a:ext cx="5968328" cy="8283627"/>
          </a:xfrm>
          <a:custGeom>
            <a:avLst/>
            <a:gdLst/>
            <a:ahLst/>
            <a:cxnLst/>
            <a:rect l="l" t="t" r="r" b="b"/>
            <a:pathLst>
              <a:path w="5968328" h="8283627">
                <a:moveTo>
                  <a:pt x="0" y="0"/>
                </a:moveTo>
                <a:lnTo>
                  <a:pt x="5968328" y="0"/>
                </a:lnTo>
                <a:lnTo>
                  <a:pt x="5968328" y="8283627"/>
                </a:lnTo>
                <a:lnTo>
                  <a:pt x="0" y="82836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577133" y="2913486"/>
            <a:ext cx="9238930" cy="1335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919"/>
              </a:lnSpc>
            </a:pPr>
            <a:r>
              <a:rPr lang="en-US" sz="78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Conclusion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778948" y="4172691"/>
            <a:ext cx="8480352" cy="3789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009"/>
              </a:lnSpc>
            </a:pPr>
            <a:r>
              <a:rPr lang="en-US" sz="3577" b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This project successfully demonstrates how structured database engineering and PL/SQL intelligence can transform hospital data into a reliable, analytical, and decision-support system.</a:t>
            </a:r>
          </a:p>
        </p:txBody>
      </p:sp>
      <p:sp>
        <p:nvSpPr>
          <p:cNvPr id="7" name="Freeform 7"/>
          <p:cNvSpPr/>
          <p:nvPr/>
        </p:nvSpPr>
        <p:spPr>
          <a:xfrm>
            <a:off x="6179889" y="1578327"/>
            <a:ext cx="1397243" cy="1135842"/>
          </a:xfrm>
          <a:custGeom>
            <a:avLst/>
            <a:gdLst/>
            <a:ahLst/>
            <a:cxnLst/>
            <a:rect l="l" t="t" r="r" b="b"/>
            <a:pathLst>
              <a:path w="1397243" h="1135842">
                <a:moveTo>
                  <a:pt x="0" y="0"/>
                </a:moveTo>
                <a:lnTo>
                  <a:pt x="1397244" y="0"/>
                </a:lnTo>
                <a:lnTo>
                  <a:pt x="1397244" y="1135842"/>
                </a:lnTo>
                <a:lnTo>
                  <a:pt x="0" y="11358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060474" y="0"/>
            <a:ext cx="2455053" cy="1397148"/>
          </a:xfrm>
          <a:custGeom>
            <a:avLst/>
            <a:gdLst/>
            <a:ahLst/>
            <a:cxnLst/>
            <a:rect l="l" t="t" r="r" b="b"/>
            <a:pathLst>
              <a:path w="2455053" h="1397148">
                <a:moveTo>
                  <a:pt x="0" y="0"/>
                </a:moveTo>
                <a:lnTo>
                  <a:pt x="2455052" y="0"/>
                </a:lnTo>
                <a:lnTo>
                  <a:pt x="2455052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4000"/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481429" y="2367312"/>
            <a:ext cx="2455053" cy="1397148"/>
          </a:xfrm>
          <a:custGeom>
            <a:avLst/>
            <a:gdLst/>
            <a:ahLst/>
            <a:cxnLst/>
            <a:rect l="l" t="t" r="r" b="b"/>
            <a:pathLst>
              <a:path w="2455053" h="1397148">
                <a:moveTo>
                  <a:pt x="0" y="0"/>
                </a:moveTo>
                <a:lnTo>
                  <a:pt x="2455052" y="0"/>
                </a:lnTo>
                <a:lnTo>
                  <a:pt x="2455052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4000"/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973623" y="698574"/>
            <a:ext cx="1227526" cy="698574"/>
          </a:xfrm>
          <a:custGeom>
            <a:avLst/>
            <a:gdLst/>
            <a:ahLst/>
            <a:cxnLst/>
            <a:rect l="l" t="t" r="r" b="b"/>
            <a:pathLst>
              <a:path w="1227526" h="698574">
                <a:moveTo>
                  <a:pt x="0" y="0"/>
                </a:moveTo>
                <a:lnTo>
                  <a:pt x="1227526" y="0"/>
                </a:lnTo>
                <a:lnTo>
                  <a:pt x="1227526" y="698574"/>
                </a:lnTo>
                <a:lnTo>
                  <a:pt x="0" y="69857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4000"/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E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00000">
            <a:off x="-1655213" y="-695980"/>
            <a:ext cx="12808520" cy="10852310"/>
          </a:xfrm>
          <a:custGeom>
            <a:avLst/>
            <a:gdLst/>
            <a:ahLst/>
            <a:cxnLst/>
            <a:rect l="l" t="t" r="r" b="b"/>
            <a:pathLst>
              <a:path w="12808520" h="10852310">
                <a:moveTo>
                  <a:pt x="0" y="0"/>
                </a:moveTo>
                <a:lnTo>
                  <a:pt x="12808520" y="0"/>
                </a:lnTo>
                <a:lnTo>
                  <a:pt x="12808520" y="10852310"/>
                </a:lnTo>
                <a:lnTo>
                  <a:pt x="0" y="10852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727506">
            <a:off x="-3670276" y="-3047050"/>
            <a:ext cx="16838642" cy="12154438"/>
          </a:xfrm>
          <a:custGeom>
            <a:avLst/>
            <a:gdLst/>
            <a:ahLst/>
            <a:cxnLst/>
            <a:rect l="l" t="t" r="r" b="b"/>
            <a:pathLst>
              <a:path w="16838642" h="12154438">
                <a:moveTo>
                  <a:pt x="0" y="0"/>
                </a:moveTo>
                <a:lnTo>
                  <a:pt x="16838642" y="0"/>
                </a:lnTo>
                <a:lnTo>
                  <a:pt x="16838642" y="12154438"/>
                </a:lnTo>
                <a:lnTo>
                  <a:pt x="0" y="121544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5000"/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144000" y="610644"/>
            <a:ext cx="9144000" cy="9676356"/>
          </a:xfrm>
          <a:custGeom>
            <a:avLst/>
            <a:gdLst/>
            <a:ahLst/>
            <a:cxnLst/>
            <a:rect l="l" t="t" r="r" b="b"/>
            <a:pathLst>
              <a:path w="9144000" h="9676356">
                <a:moveTo>
                  <a:pt x="0" y="0"/>
                </a:moveTo>
                <a:lnTo>
                  <a:pt x="9144000" y="0"/>
                </a:lnTo>
                <a:lnTo>
                  <a:pt x="9144000" y="9676356"/>
                </a:lnTo>
                <a:lnTo>
                  <a:pt x="0" y="96763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520009" y="2834279"/>
            <a:ext cx="8725954" cy="6078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28"/>
              </a:lnSpc>
            </a:pPr>
            <a:r>
              <a:rPr lang="en-US" sz="3200" dirty="0" smtClean="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HUMURE </a:t>
            </a:r>
            <a:r>
              <a:rPr lang="en-US" sz="3200" dirty="0" smtClean="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ENOCK</a:t>
            </a:r>
          </a:p>
          <a:p>
            <a:pPr algn="l">
              <a:lnSpc>
                <a:spcPts val="15828"/>
              </a:lnSpc>
            </a:pPr>
            <a:r>
              <a:rPr lang="en-US" sz="3200" dirty="0" smtClean="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27394</a:t>
            </a:r>
          </a:p>
          <a:p>
            <a:pPr algn="l">
              <a:lnSpc>
                <a:spcPts val="15828"/>
              </a:lnSpc>
            </a:pPr>
            <a:r>
              <a:rPr lang="en-US" sz="3200" dirty="0" smtClean="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THANK YOU!!</a:t>
            </a:r>
            <a:endParaRPr lang="en-US" sz="3200" dirty="0">
              <a:solidFill>
                <a:srgbClr val="FFFFFF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6681575" y="4880901"/>
            <a:ext cx="1874050" cy="1523446"/>
          </a:xfrm>
          <a:custGeom>
            <a:avLst/>
            <a:gdLst/>
            <a:ahLst/>
            <a:cxnLst/>
            <a:rect l="l" t="t" r="r" b="b"/>
            <a:pathLst>
              <a:path w="1874050" h="1523446">
                <a:moveTo>
                  <a:pt x="0" y="0"/>
                </a:moveTo>
                <a:lnTo>
                  <a:pt x="1874050" y="0"/>
                </a:lnTo>
                <a:lnTo>
                  <a:pt x="1874050" y="1523446"/>
                </a:lnTo>
                <a:lnTo>
                  <a:pt x="0" y="15234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521520" y="8559726"/>
            <a:ext cx="2455053" cy="1397148"/>
          </a:xfrm>
          <a:custGeom>
            <a:avLst/>
            <a:gdLst/>
            <a:ahLst/>
            <a:cxnLst/>
            <a:rect l="l" t="t" r="r" b="b"/>
            <a:pathLst>
              <a:path w="2455053" h="1397148">
                <a:moveTo>
                  <a:pt x="0" y="0"/>
                </a:moveTo>
                <a:lnTo>
                  <a:pt x="2455053" y="0"/>
                </a:lnTo>
                <a:lnTo>
                  <a:pt x="2455053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4000"/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698277" y="330126"/>
            <a:ext cx="2455053" cy="1397148"/>
          </a:xfrm>
          <a:custGeom>
            <a:avLst/>
            <a:gdLst/>
            <a:ahLst/>
            <a:cxnLst/>
            <a:rect l="l" t="t" r="r" b="b"/>
            <a:pathLst>
              <a:path w="2455053" h="1397148">
                <a:moveTo>
                  <a:pt x="0" y="0"/>
                </a:moveTo>
                <a:lnTo>
                  <a:pt x="2455052" y="0"/>
                </a:lnTo>
                <a:lnTo>
                  <a:pt x="2455052" y="1397148"/>
                </a:lnTo>
                <a:lnTo>
                  <a:pt x="0" y="13971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4000"/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844633" y="9423826"/>
            <a:ext cx="1873333" cy="1066097"/>
          </a:xfrm>
          <a:custGeom>
            <a:avLst/>
            <a:gdLst/>
            <a:ahLst/>
            <a:cxnLst/>
            <a:rect l="l" t="t" r="r" b="b"/>
            <a:pathLst>
              <a:path w="1873333" h="1066097">
                <a:moveTo>
                  <a:pt x="0" y="0"/>
                </a:moveTo>
                <a:lnTo>
                  <a:pt x="1873333" y="0"/>
                </a:lnTo>
                <a:lnTo>
                  <a:pt x="1873333" y="1066096"/>
                </a:lnTo>
                <a:lnTo>
                  <a:pt x="0" y="10660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4000"/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247</Words>
  <Application>Microsoft Office PowerPoint</Application>
  <PresentationFormat>Custom</PresentationFormat>
  <Paragraphs>58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Montserrat Medium</vt:lpstr>
      <vt:lpstr>Montserrat Semi-Bold</vt:lpstr>
      <vt:lpstr>Fredoka</vt:lpstr>
      <vt:lpstr>Canva Sans Bold</vt:lpstr>
      <vt:lpstr>Arial</vt:lpstr>
      <vt:lpstr>Montserrat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Illustrative Medical Healthcare Presentation</dc:title>
  <cp:lastModifiedBy>Enock humure</cp:lastModifiedBy>
  <cp:revision>6</cp:revision>
  <dcterms:created xsi:type="dcterms:W3CDTF">2006-08-16T00:00:00Z</dcterms:created>
  <dcterms:modified xsi:type="dcterms:W3CDTF">2025-12-08T18:01:28Z</dcterms:modified>
  <dc:identifier>DAG67kO1vcU</dc:identifier>
</cp:coreProperties>
</file>